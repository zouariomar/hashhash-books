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55960"/>
            <a:ext cx="4160160" cy="238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000" cy="105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" name="Google Shape;312;p30"/>
          <p:cNvSpPr/>
          <p:nvPr/>
        </p:nvSpPr>
        <p:spPr>
          <a:xfrm>
            <a:off x="713160" y="3611880"/>
            <a:ext cx="509400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6;p4"/>
          <p:cNvGrpSpPr/>
          <p:nvPr/>
        </p:nvGrpSpPr>
        <p:grpSpPr>
          <a:xfrm>
            <a:off x="-247320" y="-445320"/>
            <a:ext cx="9638640" cy="6028560"/>
            <a:chOff x="-247320" y="-445320"/>
            <a:chExt cx="9638640" cy="6028560"/>
          </a:xfrm>
        </p:grpSpPr>
        <p:sp>
          <p:nvSpPr>
            <p:cNvPr id="7" name="Google Shape;17;p4"/>
            <p:cNvSpPr/>
            <p:nvPr/>
          </p:nvSpPr>
          <p:spPr>
            <a:xfrm>
              <a:off x="-247320" y="411984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8;p4"/>
            <p:cNvSpPr/>
            <p:nvPr/>
          </p:nvSpPr>
          <p:spPr>
            <a:xfrm>
              <a:off x="293400" y="461592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4"/>
            <p:cNvSpPr/>
            <p:nvPr/>
          </p:nvSpPr>
          <p:spPr>
            <a:xfrm flipH="1">
              <a:off x="8551800" y="411984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20;p4"/>
            <p:cNvSpPr/>
            <p:nvPr/>
          </p:nvSpPr>
          <p:spPr>
            <a:xfrm flipH="1">
              <a:off x="8011080" y="461592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1;p4"/>
            <p:cNvSpPr/>
            <p:nvPr/>
          </p:nvSpPr>
          <p:spPr>
            <a:xfrm flipH="1" rot="10800000">
              <a:off x="-247320" y="5040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2;p4"/>
            <p:cNvSpPr/>
            <p:nvPr/>
          </p:nvSpPr>
          <p:spPr>
            <a:xfrm flipH="1" rot="10800000">
              <a:off x="293400" y="-44532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3;p4"/>
            <p:cNvSpPr/>
            <p:nvPr/>
          </p:nvSpPr>
          <p:spPr>
            <a:xfrm rot="10800000">
              <a:off x="8553240" y="5040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4;p4"/>
            <p:cNvSpPr/>
            <p:nvPr/>
          </p:nvSpPr>
          <p:spPr>
            <a:xfrm rot="10800000">
              <a:off x="8012520" y="-44532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280" cy="39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346;p36"/>
          <p:cNvCxnSpPr/>
          <p:nvPr/>
        </p:nvCxnSpPr>
        <p:spPr>
          <a:xfrm>
            <a:off x="823320" y="987120"/>
            <a:ext cx="374040" cy="72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  <p:grpSp>
        <p:nvGrpSpPr>
          <p:cNvPr id="18" name="Google Shape;347;p36"/>
          <p:cNvGrpSpPr/>
          <p:nvPr/>
        </p:nvGrpSpPr>
        <p:grpSpPr>
          <a:xfrm>
            <a:off x="5115240" y="-428760"/>
            <a:ext cx="4274640" cy="6450480"/>
            <a:chOff x="5115240" y="-428760"/>
            <a:chExt cx="4274640" cy="6450480"/>
          </a:xfrm>
        </p:grpSpPr>
        <p:sp>
          <p:nvSpPr>
            <p:cNvPr id="19" name="Google Shape;348;p36"/>
            <p:cNvSpPr/>
            <p:nvPr/>
          </p:nvSpPr>
          <p:spPr>
            <a:xfrm flipH="1" rot="10800000">
              <a:off x="8492400" y="-19188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49;p36"/>
            <p:cNvSpPr/>
            <p:nvPr/>
          </p:nvSpPr>
          <p:spPr>
            <a:xfrm>
              <a:off x="8551800" y="326772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50;p36"/>
            <p:cNvSpPr/>
            <p:nvPr/>
          </p:nvSpPr>
          <p:spPr>
            <a:xfrm>
              <a:off x="6606720" y="254736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51;p36"/>
            <p:cNvSpPr/>
            <p:nvPr/>
          </p:nvSpPr>
          <p:spPr>
            <a:xfrm>
              <a:off x="7103520" y="-15336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52;p36"/>
            <p:cNvSpPr/>
            <p:nvPr/>
          </p:nvSpPr>
          <p:spPr>
            <a:xfrm>
              <a:off x="6684120" y="31860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53;p36"/>
            <p:cNvSpPr/>
            <p:nvPr/>
          </p:nvSpPr>
          <p:spPr>
            <a:xfrm>
              <a:off x="6109920" y="119412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54;p36"/>
            <p:cNvSpPr/>
            <p:nvPr/>
          </p:nvSpPr>
          <p:spPr>
            <a:xfrm>
              <a:off x="6109920" y="69768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55;p36"/>
            <p:cNvSpPr/>
            <p:nvPr/>
          </p:nvSpPr>
          <p:spPr>
            <a:xfrm>
              <a:off x="7587360" y="119412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56;p36"/>
            <p:cNvSpPr/>
            <p:nvPr/>
          </p:nvSpPr>
          <p:spPr>
            <a:xfrm>
              <a:off x="5634000" y="-42876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7;p36"/>
            <p:cNvSpPr/>
            <p:nvPr/>
          </p:nvSpPr>
          <p:spPr>
            <a:xfrm>
              <a:off x="7017840" y="207504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58;p36"/>
            <p:cNvSpPr/>
            <p:nvPr/>
          </p:nvSpPr>
          <p:spPr>
            <a:xfrm>
              <a:off x="5193720" y="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59;p36"/>
            <p:cNvSpPr/>
            <p:nvPr/>
          </p:nvSpPr>
          <p:spPr>
            <a:xfrm>
              <a:off x="8069040" y="162216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60;p36"/>
            <p:cNvSpPr/>
            <p:nvPr/>
          </p:nvSpPr>
          <p:spPr>
            <a:xfrm flipH="1" rot="10800000">
              <a:off x="5115240" y="365688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61;p36"/>
            <p:cNvSpPr/>
            <p:nvPr/>
          </p:nvSpPr>
          <p:spPr>
            <a:xfrm flipH="1" rot="10800000">
              <a:off x="6606720" y="392544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362;p36"/>
            <p:cNvSpPr/>
            <p:nvPr/>
          </p:nvSpPr>
          <p:spPr>
            <a:xfrm flipH="1" rot="10800000">
              <a:off x="5983920" y="505440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363;p36"/>
            <p:cNvSpPr/>
            <p:nvPr/>
          </p:nvSpPr>
          <p:spPr>
            <a:xfrm flipH="1" rot="10800000">
              <a:off x="7178760" y="353412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64;p36"/>
            <p:cNvSpPr/>
            <p:nvPr/>
          </p:nvSpPr>
          <p:spPr>
            <a:xfrm flipH="1" rot="10800000">
              <a:off x="6606720" y="461016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365;p36"/>
            <p:cNvSpPr/>
            <p:nvPr/>
          </p:nvSpPr>
          <p:spPr>
            <a:xfrm flipH="1" rot="10800000">
              <a:off x="5526360" y="4129200"/>
              <a:ext cx="838080" cy="967320"/>
            </a:xfrm>
            <a:custGeom>
              <a:avLst/>
              <a:gdLst>
                <a:gd name="textAreaLeft" fmla="*/ -360 w 838080"/>
                <a:gd name="textAreaRight" fmla="*/ 83844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366;p36"/>
            <p:cNvSpPr/>
            <p:nvPr/>
          </p:nvSpPr>
          <p:spPr>
            <a:xfrm>
              <a:off x="8117280" y="285228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367;p36"/>
            <p:cNvSpPr/>
            <p:nvPr/>
          </p:nvSpPr>
          <p:spPr>
            <a:xfrm>
              <a:off x="8172720" y="303480"/>
              <a:ext cx="838080" cy="967320"/>
            </a:xfrm>
            <a:custGeom>
              <a:avLst/>
              <a:gdLst>
                <a:gd name="textAreaLeft" fmla="*/ 0 w 838080"/>
                <a:gd name="textAreaRight" fmla="*/ 838800 w 838080"/>
                <a:gd name="textAreaTop" fmla="*/ 0 h 967320"/>
                <a:gd name="textAreaBottom" fmla="*/ 968040 h 96732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" name=""/>
          <p:cNvSpPr/>
          <p:nvPr/>
        </p:nvSpPr>
        <p:spPr>
          <a:xfrm>
            <a:off x="714240" y="1152360"/>
            <a:ext cx="4161600" cy="23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AWS Overview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0" name=""/>
          <p:cNvSpPr/>
          <p:nvPr/>
        </p:nvSpPr>
        <p:spPr>
          <a:xfrm>
            <a:off x="714240" y="3543480"/>
            <a:ext cx="41616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Overview of AWS cloud services and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Introduction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2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Introduction to AWS and cloud fundamentals for technical and corporate audiences.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AWS offers scalable cloud services across compute, storage, databases, networking, security, and analytics. This presentation outlines core services, architecture patterns, and best practices for designing reliable, secure, and cost-effective solutions.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image_0:slide_img_oAIGAH.jpg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"/>
          <p:cNvSpPr/>
          <p:nvPr/>
        </p:nvSpPr>
        <p:spPr>
          <a:xfrm>
            <a:off x="5048280" y="619200"/>
            <a:ext cx="22852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5" name=""/>
          <p:cNvSpPr/>
          <p:nvPr/>
        </p:nvSpPr>
        <p:spPr>
          <a:xfrm>
            <a:off x="5048280" y="1428840"/>
            <a:ext cx="34758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Introduction &amp;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6" name=""/>
          <p:cNvSpPr/>
          <p:nvPr/>
        </p:nvSpPr>
        <p:spPr>
          <a:xfrm>
            <a:off x="5048280" y="3333600"/>
            <a:ext cx="3475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What is Cloud Computing?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8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Cloud computing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delivers on-demand IT resources over the internet with pay-as-you-go pricing.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Benefits include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scalability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,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cost efficiency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, and faster time-to-market. Deployment models: Public, Private, Hybrid. Use when elasticity, automation, and global reach are priorities.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AWS Global Infrastructure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0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AWS provides global Regions, Availability Zones (AZs), and Edge Locations for low-latency delivery.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Design for resilience using multiple AZs and Regions. Edge locations accelerate content via CloudFront and improve user experience worldwide.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image_0:slide_img_IoigAH.jpg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"/>
          <p:cNvSpPr/>
          <p:nvPr/>
        </p:nvSpPr>
        <p:spPr>
          <a:xfrm>
            <a:off x="504828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Key Benefits &amp; Use Cases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3" name=""/>
          <p:cNvSpPr/>
          <p:nvPr/>
        </p:nvSpPr>
        <p:spPr>
          <a:xfrm>
            <a:off x="504828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AWS enables rapid innovation, operational efficiency, and global scale.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Common use cases: web hosting, data lakes, AI/ML, IoT, backup/disaster recovery, and media streaming. Choose services based on latency, durability, and cost requirements.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image_0:slide_img_MjkLBH.jpg"/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"/>
          <p:cNvSpPr/>
          <p:nvPr/>
        </p:nvSpPr>
        <p:spPr>
          <a:xfrm>
            <a:off x="619200" y="619200"/>
            <a:ext cx="21423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6" name=""/>
          <p:cNvSpPr/>
          <p:nvPr/>
        </p:nvSpPr>
        <p:spPr>
          <a:xfrm>
            <a:off x="619200" y="1428840"/>
            <a:ext cx="34758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Compute &amp; Serverless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7" name=""/>
          <p:cNvSpPr/>
          <p:nvPr/>
        </p:nvSpPr>
        <p:spPr>
          <a:xfrm>
            <a:off x="619200" y="3333600"/>
            <a:ext cx="3475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EC2, ECS, EKS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9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EC2 provides flexible VMs;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ECS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and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EKS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orchestrate containers (managed and self-managed).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Select EC2 for full control, ECS/EKS for container workloads, and Fargate for serverless containers to reduce operational overhead.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image_0:slide_img_ikkBCH.jpg"/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"/>
          <p:cNvSpPr/>
          <p:nvPr/>
        </p:nvSpPr>
        <p:spPr>
          <a:xfrm>
            <a:off x="61920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AWS Lambda &amp; Fargate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2" name=""/>
          <p:cNvSpPr/>
          <p:nvPr/>
        </p:nvSpPr>
        <p:spPr>
          <a:xfrm>
            <a:off x="61920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Serverless compute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with Lambda enables event-driven functions; Fargate runs containers without servers.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Use Lambda for short-lived, event-based tasks and Fargate for containerized apps needing simplified operations and autoscaling.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Serverless Workflow Example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4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Example: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API Gateway - Lambda - DynamoDB - S3 - EventBridge for async events.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Diagram shows request flow, error handling, and monitoring hooks. Use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Idempotent functions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and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dead-letter queues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to ensure reliability.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_0:slide_img_mHdPCH.jpg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"/>
          <p:cNvSpPr/>
          <p:nvPr/>
        </p:nvSpPr>
        <p:spPr>
          <a:xfrm>
            <a:off x="5048280" y="619200"/>
            <a:ext cx="22852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03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7" name=""/>
          <p:cNvSpPr/>
          <p:nvPr/>
        </p:nvSpPr>
        <p:spPr>
          <a:xfrm>
            <a:off x="5048280" y="1428840"/>
            <a:ext cx="34758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Storage &amp; Databases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8" name=""/>
          <p:cNvSpPr/>
          <p:nvPr/>
        </p:nvSpPr>
        <p:spPr>
          <a:xfrm>
            <a:off x="5048280" y="3333600"/>
            <a:ext cx="3475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_0:slide_img_nEpPDH.jpg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"/>
          <p:cNvSpPr/>
          <p:nvPr/>
        </p:nvSpPr>
        <p:spPr>
          <a:xfrm>
            <a:off x="504828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S3, EBS, EFS, FSx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1" name=""/>
          <p:cNvSpPr/>
          <p:nvPr/>
        </p:nvSpPr>
        <p:spPr>
          <a:xfrm>
            <a:off x="504828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S3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object storage and data lakes;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EBS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block storage attached to EC2.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Use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EFS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shared file systems and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FSx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high-performance Windows/Linux workloads. Consider storage class and lifecycle policies for cost.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RDS, Aurora, DynamoDB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3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RDS/Aurora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managed relational databases;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DynamoDB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scalable NoSQL.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Choose Aurora for high-performance SQL, RDS for familiar engines, and DynamoDB for single-digit millisecond scale and predictable throughput.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Data Lakes &amp; Analytics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5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Build data Lake on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S3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with cataloging via Glue and querying via Athena.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Process large datasets with EMR/Kinesis and visualize with QuickSight. Optimize partitioning and compression for performance and cost.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image_0:slide_img_jihAEH.jpg"/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"/>
          <p:cNvSpPr/>
          <p:nvPr/>
        </p:nvSpPr>
        <p:spPr>
          <a:xfrm>
            <a:off x="619200" y="619200"/>
            <a:ext cx="214236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04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8" name=""/>
          <p:cNvSpPr/>
          <p:nvPr/>
        </p:nvSpPr>
        <p:spPr>
          <a:xfrm>
            <a:off x="619200" y="1428840"/>
            <a:ext cx="347580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Security &amp; Management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9" name=""/>
          <p:cNvSpPr/>
          <p:nvPr/>
        </p:nvSpPr>
        <p:spPr>
          <a:xfrm>
            <a:off x="619200" y="3333600"/>
            <a:ext cx="347580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IAM, KMS, Shield, WAF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1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Use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IAM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least-privilege access and roles. Protect data with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KMS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encryption keys.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Mitigate threats with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Shield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(DDoS) and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WAF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application layer protections. Implement centralized policies via Organizations.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image_0:slide_img_fjcOEH.jpg"/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"/>
          <p:cNvSpPr/>
          <p:nvPr/>
        </p:nvSpPr>
        <p:spPr>
          <a:xfrm>
            <a:off x="61920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Monitoring: CloudWatch, CloudTrail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4" name=""/>
          <p:cNvSpPr/>
          <p:nvPr/>
        </p:nvSpPr>
        <p:spPr>
          <a:xfrm>
            <a:off x="61920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CloudWatch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metrics, logs, and alarms;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CloudTrail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for audit trails and governance.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Correlate logs, set SLA-driven alerts, and forward to centralized analytics for incident response and forensics.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Cost, Governance &amp; Best Practices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6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Apply tagging, budgets, and Cost Explorer for visibility. Use Reserved Instances or Savings Plans for savings.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Adopt the </a:t>
            </a:r>
            <a:r>
              <a:rPr lang="en-US" sz="1600" b="0" i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Well-Architected Framework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 and automation (CloudFormation) to enforce governance and operational excellence.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Conclusions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8" name="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Summarize core services and architectures: compute, storage, databases, networking, security, and monitoring.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Adopt best practices for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resilience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,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security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, and </a:t>
            </a: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cost optimization</a:t>
            </a: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. Start with a reference architecture, iterate with telemetry, and leverage managed services to accelerate outcomes.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2026-07-06T09:38:33Z</dcterms:created>
  <dc:creator>Slidesgo AI</dc:creator>
  <dc:description/>
  <dc:language>en-US</dc:language>
  <cp:lastModifiedBy/>
  <dcterms:modified xsi:type="dcterms:W3CDTF">2026-07-06T10:40:01Z</dcterms:modified>
  <cp:revision>1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a2316681-da7b-4541-807e-2de6120aaa06</vt:lpwstr>
  </property>
</Properties>
</file>